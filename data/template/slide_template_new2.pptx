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0"/>
  </p:notesMasterIdLst>
  <p:sldIdLst>
    <p:sldId id="264" r:id="rId5"/>
    <p:sldId id="261" r:id="rId6"/>
    <p:sldId id="1695" r:id="rId7"/>
    <p:sldId id="1683" r:id="rId8"/>
    <p:sldId id="1687" r:id="rId9"/>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615" autoAdjust="0"/>
    <p:restoredTop sz="94711" autoAdjust="0"/>
  </p:normalViewPr>
  <p:slideViewPr>
    <p:cSldViewPr snapToGrid="0" snapToObjects="1">
      <p:cViewPr varScale="1">
        <p:scale>
          <a:sx n="91" d="100"/>
          <a:sy n="91" d="100"/>
        </p:scale>
        <p:origin x="84" y="4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83F63A-D927-FEDB-46A7-00B49B707F9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306267"/>
            <a:ext cx="12192000" cy="3962400"/>
          </a:xfrm>
          <a:prstGeom prst="rect">
            <a:avLst/>
          </a:prstGeom>
        </p:spPr>
      </p:pic>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619995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11/4/2025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11/4/2025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11/4/2025</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11/4/2025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11/4/2025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11/4/2025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11/4/2025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11/4/2025</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11/4/2025</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11/4/2025</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11/4/2025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11/4/2025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11/4/2025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11/4/2025</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11/4/2025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11/4/2025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11/4/2025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11/4/2025</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11/4/2025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11/4/2025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11/4/2025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11/4/2025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11/4/2025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F08EA-59C8-CAC8-39B9-AB239E912DBF}"/>
              </a:ext>
            </a:extLst>
          </p:cNvPr>
          <p:cNvSpPr txBox="1"/>
          <p:nvPr userDrawn="1"/>
        </p:nvSpPr>
        <p:spPr>
          <a:xfrm rot="19905663">
            <a:off x="2516204" y="2938486"/>
            <a:ext cx="7976381" cy="1600438"/>
          </a:xfrm>
          <a:prstGeom prst="rect">
            <a:avLst/>
          </a:prstGeom>
          <a:noFill/>
        </p:spPr>
        <p:txBody>
          <a:bodyPr wrap="square" rtlCol="0">
            <a:spAutoFit/>
          </a:bodyPr>
          <a:lstStyle/>
          <a:p>
            <a:pPr algn="ctr"/>
            <a:r>
              <a:rPr lang="en-US" sz="6600" dirty="0">
                <a:solidFill>
                  <a:schemeClr val="accent1">
                    <a:lumMod val="20000"/>
                    <a:lumOff val="80000"/>
                  </a:schemeClr>
                </a:solidFill>
              </a:rPr>
              <a:t>CONFIDENTIAL </a:t>
            </a:r>
          </a:p>
          <a:p>
            <a:pPr algn="ctr"/>
            <a:r>
              <a:rPr lang="en-US" sz="3200" dirty="0">
                <a:solidFill>
                  <a:schemeClr val="accent1">
                    <a:lumMod val="20000"/>
                    <a:lumOff val="80000"/>
                  </a:schemeClr>
                </a:solidFill>
              </a:rPr>
              <a:t>WHO EOP PHI</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1E7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11/4/2025</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4" name="Picture 3">
            <a:extLst>
              <a:ext uri="{FF2B5EF4-FFF2-40B4-BE49-F238E27FC236}">
                <a16:creationId xmlns:a16="http://schemas.microsoft.com/office/drawing/2014/main" id="{4A2F782E-36A4-707A-F29B-7B736222CBCA}"/>
              </a:ext>
            </a:extLst>
          </p:cNvPr>
          <p:cNvPicPr>
            <a:picLocks noChangeAspect="1"/>
          </p:cNvPicPr>
          <p:nvPr userDrawn="1"/>
        </p:nvPicPr>
        <p:blipFill rotWithShape="1">
          <a:blip r:embed="rId28"/>
          <a:srcRect l="78846" b="55168"/>
          <a:stretch/>
        </p:blipFill>
        <p:spPr>
          <a:xfrm>
            <a:off x="8726227" y="-45243"/>
            <a:ext cx="3465773" cy="639761"/>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9">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90"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a:t>
            </a:fld>
            <a:endParaRPr lang="en-US"/>
          </a:p>
        </p:txBody>
      </p:sp>
    </p:spTree>
    <p:extLst>
      <p:ext uri="{BB962C8B-B14F-4D97-AF65-F5344CB8AC3E}">
        <p14:creationId xmlns:p14="http://schemas.microsoft.com/office/powerpoint/2010/main" val="384576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pic>
        <p:nvPicPr>
          <p:cNvPr id="3"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964196" y="1422107"/>
            <a:ext cx="6640679" cy="4525963"/>
          </a:xfrm>
        </p:spPr>
      </p:pic>
      <p:sp>
        <p:nvSpPr>
          <p:cNvPr id="4"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2</a:t>
            </a:fld>
            <a:endParaRPr lang="en-US"/>
          </a:p>
        </p:txBody>
      </p:sp>
    </p:spTree>
    <p:extLst>
      <p:ext uri="{BB962C8B-B14F-4D97-AF65-F5344CB8AC3E}">
        <p14:creationId xmlns:p14="http://schemas.microsoft.com/office/powerpoint/2010/main" val="32796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B747CF-767E-769E-2FCC-1D4A38EDAF1A}"/>
              </a:ext>
            </a:extLst>
          </p:cNvPr>
          <p:cNvSpPr>
            <a:spLocks noGrp="1"/>
          </p:cNvSpPr>
          <p:nvPr>
            <p:ph type="sldNum" sz="quarter" idx="12"/>
          </p:nvPr>
        </p:nvSpPr>
        <p:spPr/>
        <p:txBody>
          <a:bodyPr/>
          <a:lstStyle/>
          <a:p>
            <a:fld id="{C5EF2332-01BF-834F-8236-50238282D533}" type="slidenum">
              <a:rPr lang="en-US" smtClean="0"/>
              <a:t>3</a:t>
            </a:fld>
            <a:endParaRPr lang="en-US" dirty="0"/>
          </a:p>
        </p:txBody>
      </p:sp>
      <p:sp>
        <p:nvSpPr>
          <p:cNvPr id="4" name="Title 3">
            <a:extLst>
              <a:ext uri="{FF2B5EF4-FFF2-40B4-BE49-F238E27FC236}">
                <a16:creationId xmlns:a16="http://schemas.microsoft.com/office/drawing/2014/main" id="{240AD5C5-3083-97FD-51A2-1B385ED982F3}"/>
              </a:ext>
            </a:extLst>
          </p:cNvPr>
          <p:cNvSpPr>
            <a:spLocks noGrp="1"/>
          </p:cNvSpPr>
          <p:nvPr>
            <p:ph type="title"/>
          </p:nvPr>
        </p:nvSpPr>
        <p:spPr/>
        <p:txBody>
          <a:bodyPr/>
          <a:lstStyle/>
          <a:p>
            <a:r>
              <a:rPr lang="en-US" dirty="0">
                <a:latin typeface="Segoe Condensed"/>
              </a:rPr>
              <a:t>WHO-HQ PHI information flow</a:t>
            </a:r>
            <a:endParaRPr lang="en-US" dirty="0"/>
          </a:p>
        </p:txBody>
      </p:sp>
      <p:pic>
        <p:nvPicPr>
          <p:cNvPr id="9" name="Picture 8">
            <a:extLst>
              <a:ext uri="{FF2B5EF4-FFF2-40B4-BE49-F238E27FC236}">
                <a16:creationId xmlns:a16="http://schemas.microsoft.com/office/drawing/2014/main" id="{025C2684-9F35-22C8-3475-F6D862DD31B9}"/>
              </a:ext>
            </a:extLst>
          </p:cNvPr>
          <p:cNvPicPr>
            <a:picLocks noChangeAspect="1"/>
          </p:cNvPicPr>
          <p:nvPr/>
        </p:nvPicPr>
        <p:blipFill>
          <a:blip r:embed="rId2"/>
          <a:stretch>
            <a:fillRect/>
          </a:stretch>
        </p:blipFill>
        <p:spPr>
          <a:xfrm>
            <a:off x="2225733" y="1187355"/>
            <a:ext cx="6400380" cy="5670645"/>
          </a:xfrm>
          <a:prstGeom prst="rect">
            <a:avLst/>
          </a:prstGeom>
        </p:spPr>
      </p:pic>
      <p:pic>
        <p:nvPicPr>
          <p:cNvPr id="11" name="Picture 10">
            <a:extLst>
              <a:ext uri="{FF2B5EF4-FFF2-40B4-BE49-F238E27FC236}">
                <a16:creationId xmlns:a16="http://schemas.microsoft.com/office/drawing/2014/main" id="{12874C9A-456C-FAB3-6232-572029F8215A}"/>
              </a:ext>
            </a:extLst>
          </p:cNvPr>
          <p:cNvPicPr>
            <a:picLocks noChangeAspect="1"/>
          </p:cNvPicPr>
          <p:nvPr/>
        </p:nvPicPr>
        <p:blipFill>
          <a:blip r:embed="rId3"/>
          <a:stretch>
            <a:fillRect/>
          </a:stretch>
        </p:blipFill>
        <p:spPr>
          <a:xfrm>
            <a:off x="9392206" y="4629333"/>
            <a:ext cx="2429214" cy="1448002"/>
          </a:xfrm>
          <a:prstGeom prst="rect">
            <a:avLst/>
          </a:prstGeom>
        </p:spPr>
      </p:pic>
    </p:spTree>
    <p:extLst>
      <p:ext uri="{BB962C8B-B14F-4D97-AF65-F5344CB8AC3E}">
        <p14:creationId xmlns:p14="http://schemas.microsoft.com/office/powerpoint/2010/main" val="418639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916DA2E9-D0E8-42E6-4581-F0457AD49AAA}"/>
              </a:ext>
            </a:extLst>
          </p:cNvPr>
          <p:cNvSpPr>
            <a:spLocks noGrp="1"/>
          </p:cNvSpPr>
          <p:nvPr>
            <p:ph type="body" idx="1"/>
          </p:nvPr>
        </p:nvSpPr>
        <p:spPr>
          <a:xfrm>
            <a:off x="465221" y="1160650"/>
            <a:ext cx="9292389" cy="639762"/>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599" y="1847830"/>
            <a:ext cx="10724147" cy="2336967"/>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4"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5"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a:latin typeface="Segoe Condensed"/>
              </a:rPr>
              <a:t>Detection and Verification Process</a:t>
            </a:r>
            <a:endParaRPr lang="en-US"/>
          </a:p>
        </p:txBody>
      </p:sp>
      <p:sp>
        <p:nvSpPr>
          <p:cNvPr id="6" name="Text Placeholder 8">
            <a:extLst>
              <a:ext uri="{FF2B5EF4-FFF2-40B4-BE49-F238E27FC236}">
                <a16:creationId xmlns:a16="http://schemas.microsoft.com/office/drawing/2014/main" id="{D48BF65A-D79D-C586-BFA2-B2F7F3B6B5BF}"/>
              </a:ext>
            </a:extLst>
          </p:cNvPr>
          <p:cNvSpPr>
            <a:spLocks noGrp="1"/>
          </p:cNvSpPr>
          <p:nvPr>
            <p:ph type="body" sz="quarter" idx="3"/>
          </p:nvPr>
        </p:nvSpPr>
        <p:spPr>
          <a:xfrm>
            <a:off x="465221" y="4184797"/>
            <a:ext cx="10724147" cy="639762"/>
          </a:xfrm>
        </p:spPr>
        <p:txBody>
          <a:bodyPr/>
          <a:lstStyle/>
          <a:p>
            <a:r>
              <a:rPr lang="en-US" dirty="0"/>
              <a:t>From signal to event</a:t>
            </a:r>
          </a:p>
          <a:p>
            <a:endParaRPr lang="en-US" dirty="0"/>
          </a:p>
        </p:txBody>
      </p:sp>
      <p:sp>
        <p:nvSpPr>
          <p:cNvPr id="7" name="TextBox 13">
            <a:extLst>
              <a:ext uri="{FF2B5EF4-FFF2-40B4-BE49-F238E27FC236}">
                <a16:creationId xmlns:a16="http://schemas.microsoft.com/office/drawing/2014/main" id="{507A8C82-5ED0-B3F1-A88B-D982D84E74C9}"/>
              </a:ext>
            </a:extLst>
          </p:cNvPr>
          <p:cNvSpPr txBox="1"/>
          <p:nvPr/>
        </p:nvSpPr>
        <p:spPr>
          <a:xfrm>
            <a:off x="609599" y="4504678"/>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2172501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512905" y="1304925"/>
            <a:ext cx="11069495" cy="3951288"/>
          </a:xfrm>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dirty="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dirty="0">
              <a:solidFill>
                <a:srgbClr val="FF0000"/>
              </a:solidFill>
            </a:endParaRPr>
          </a:p>
          <a:p>
            <a:pPr marL="371475" indent="-285750" algn="just">
              <a:defRPr/>
            </a:pPr>
            <a:r>
              <a:rPr lang="en-US" dirty="0">
                <a:solidFill>
                  <a:schemeClr val="tx1"/>
                </a:solidFill>
              </a:rPr>
              <a:t>Signal: </a:t>
            </a:r>
            <a:r>
              <a:rPr lang="en-US" b="0" dirty="0">
                <a:solidFill>
                  <a:schemeClr val="tx1"/>
                </a:solidFill>
              </a:rPr>
              <a:t>is d</a:t>
            </a:r>
            <a:r>
              <a:rPr lang="en-US" sz="1800" b="0" i="0" dirty="0">
                <a:solidFill>
                  <a:schemeClr val="tx1"/>
                </a:solidFill>
                <a:effectLst/>
              </a:rPr>
              <a:t>ata and/or information detected that has been triangulated, assessed, triaged, and categorized using a multidisciplinary and PHI-specific lens, and determined to represent a potential acute risk to human health, encompassing all-hazard considerations. Signals may consist of reports of cases or deaths (individual or aggregated), potential exposure of human beings to biological, chemical or radiological and nuclear hazards, or the occurrence of natural or human-made disasters. Signals can be detected from a variety of sources and through a range of approaches. </a:t>
            </a:r>
            <a:endParaRPr lang="en-GB" sz="1700" b="0" i="0" u="none" strike="noStrike" kern="1200" cap="none" spc="0" normalizeH="0" baseline="0" noProof="0" dirty="0">
              <a:ln>
                <a:noFill/>
              </a:ln>
              <a:solidFill>
                <a:schemeClr val="tx1"/>
              </a:solidFill>
              <a:effectLst/>
              <a:uLnTx/>
              <a:uFillTx/>
            </a:endParaRPr>
          </a:p>
          <a:p>
            <a:pPr marL="0" indent="0">
              <a:buNone/>
            </a:pPr>
            <a:endParaRPr lang="en-US" dirty="0"/>
          </a:p>
        </p:txBody>
      </p:sp>
      <p:sp>
        <p:nvSpPr>
          <p:cNvPr id="3"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4"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2f4e7dc-877a-4ed9-a52f-e1cf0df97ff5" xsi:nil="true"/>
    <lcf76f155ced4ddcb4097134ff3c332f xmlns="a09e9d82-a4a6-4b9b-911d-2666e311eede">
      <Terms xmlns="http://schemas.microsoft.com/office/infopath/2007/PartnerControls"/>
    </lcf76f155ced4ddcb4097134ff3c332f>
    <_Flow_SignoffStatus xmlns="a09e9d82-a4a6-4b9b-911d-2666e311eed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975FBDD4047747973BA80731FDA9B8" ma:contentTypeVersion="19" ma:contentTypeDescription="Create a new document." ma:contentTypeScope="" ma:versionID="6e10b7193ab1881411c4b29aacdd38f9">
  <xsd:schema xmlns:xsd="http://www.w3.org/2001/XMLSchema" xmlns:xs="http://www.w3.org/2001/XMLSchema" xmlns:p="http://schemas.microsoft.com/office/2006/metadata/properties" xmlns:ns2="a09e9d82-a4a6-4b9b-911d-2666e311eede" xmlns:ns3="b2f4e7dc-877a-4ed9-a52f-e1cf0df97ff5" targetNamespace="http://schemas.microsoft.com/office/2006/metadata/properties" ma:root="true" ma:fieldsID="69b0705cf479ba1e6a436010564e6c75" ns2:_="" ns3:_="">
    <xsd:import namespace="a09e9d82-a4a6-4b9b-911d-2666e311eede"/>
    <xsd:import namespace="b2f4e7dc-877a-4ed9-a52f-e1cf0df97ff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Flow_SignoffStatu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9e9d82-a4a6-4b9b-911d-2666e311ee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2" nillable="true" ma:displayName="Sign-off status" ma:internalName="_x0024_Resources_x003a_core_x002c_Signoff_Status_x003b_">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4e7dc-877a-4ed9-a52f-e1cf0df97ff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48c9d6b-8a7d-41e7-8889-f6e204576da1}" ma:internalName="TaxCatchAll" ma:showField="CatchAllData" ma:web="b2f4e7dc-877a-4ed9-a52f-e1cf0df97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5E4285-A42E-4477-BACD-839674D390A7}">
  <ds:schemaRefs>
    <ds:schemaRef ds:uri="http://www.w3.org/XML/1998/namespace"/>
    <ds:schemaRef ds:uri="http://schemas.microsoft.com/office/2006/documentManagement/types"/>
    <ds:schemaRef ds:uri="a09e9d82-a4a6-4b9b-911d-2666e311eede"/>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b2f4e7dc-877a-4ed9-a52f-e1cf0df97ff5"/>
    <ds:schemaRef ds:uri="http://purl.org/dc/terms/"/>
  </ds:schemaRefs>
</ds:datastoreItem>
</file>

<file path=customXml/itemProps2.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3.xml><?xml version="1.0" encoding="utf-8"?>
<ds:datastoreItem xmlns:ds="http://schemas.openxmlformats.org/officeDocument/2006/customXml" ds:itemID="{6A6A65CB-80AE-4E53-A292-2EE50652FB31}">
  <ds:schemaRefs>
    <ds:schemaRef ds:uri="a09e9d82-a4a6-4b9b-911d-2666e311eede"/>
    <ds:schemaRef ds:uri="b2f4e7dc-877a-4ed9-a52f-e1cf0df97f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905</TotalTime>
  <Words>586</Words>
  <Application>Microsoft Office PowerPoint</Application>
  <PresentationFormat>Widescreen</PresentationFormat>
  <Paragraphs>26</Paragraphs>
  <Slides>5</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Corbel</vt:lpstr>
      <vt:lpstr>Leelawadee</vt:lpstr>
      <vt:lpstr>Segoe Condensed</vt:lpstr>
      <vt:lpstr>WHE</vt:lpstr>
      <vt:lpstr>Preface</vt:lpstr>
      <vt:lpstr>Detection, verification, risk assessment, communication and response process</vt:lpstr>
      <vt:lpstr>WHO-HQ PHI information flow</vt:lpstr>
      <vt:lpstr>Detection and Verification Process</vt:lpstr>
      <vt:lpstr>Signal nomenclature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LAURENSON-SCHAFER, Henry</cp:lastModifiedBy>
  <cp:revision>73</cp:revision>
  <dcterms:created xsi:type="dcterms:W3CDTF">2020-03-30T19:54:51Z</dcterms:created>
  <dcterms:modified xsi:type="dcterms:W3CDTF">2025-11-04T10:42:31Z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0x010100F4975FBDD4047747973BA80731FDA9B8</vt:lpwstr>
  </property>
  <property fmtid="{D5CDD505-2E9C-101B-9397-08002B2CF9AE}" pid="6" name="MediaServiceImageTags">
    <vt:lpwstr/>
  </property>
</Properties>
</file>